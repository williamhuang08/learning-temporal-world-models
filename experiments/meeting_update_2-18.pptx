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357" r:id="rId3"/>
    <p:sldId id="355" r:id="rId4"/>
    <p:sldId id="358" r:id="rId5"/>
    <p:sldId id="356" r:id="rId6"/>
    <p:sldId id="359" r:id="rId7"/>
    <p:sldId id="360" r:id="rId8"/>
    <p:sldId id="361" r:id="rId9"/>
    <p:sldId id="362" r:id="rId10"/>
    <p:sldId id="363" r:id="rId11"/>
    <p:sldId id="364" r:id="rId12"/>
    <p:sldId id="365" r:id="rId13"/>
    <p:sldId id="366" r:id="rId14"/>
    <p:sldId id="367" r:id="rId15"/>
    <p:sldId id="368" r:id="rId16"/>
    <p:sldId id="369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608"/>
    <p:restoredTop sz="94694"/>
  </p:normalViewPr>
  <p:slideViewPr>
    <p:cSldViewPr snapToGrid="0">
      <p:cViewPr>
        <p:scale>
          <a:sx n="80" d="100"/>
          <a:sy n="80" d="100"/>
        </p:scale>
        <p:origin x="2312" y="9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A35CBD-AC17-594E-91E2-CC42AEE4EC7C}" type="datetimeFigureOut">
              <a:rPr lang="en-US" smtClean="0"/>
              <a:t>2/22/26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6D38021-186F-E54C-A61F-913750A590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94517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B21595-FDC7-D607-0AC0-3D39E850E0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BCE4863-F12A-39C7-9226-2019A88FA6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2F0A69-D682-EF23-0352-15D192A542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8B94A0-1D21-1442-970F-8A71EF198ADF}" type="datetimeFigureOut">
              <a:rPr lang="en-US" smtClean="0"/>
              <a:t>2/22/26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33E683-9B8B-D9E8-F2DD-FF62A120FC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116625-A2F9-967E-29F4-F748DD300A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B8CEF0-5E4C-7C40-9F96-6A21B94434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85027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25147B-CDD1-E594-9951-5710306357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0EFBB8-7F3B-C74D-8998-B08518299C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12CCC1-C2F4-A372-6815-EE4FD8CBF6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8B94A0-1D21-1442-970F-8A71EF198ADF}" type="datetimeFigureOut">
              <a:rPr lang="en-US" smtClean="0"/>
              <a:t>2/22/26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CB0A18-A37F-8308-35D9-51AF279829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595191-C535-784D-3CB1-AE1585291F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B8CEF0-5E4C-7C40-9F96-6A21B94434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44449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8253DD-72A5-29E4-FC41-30845A6FFF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ED6E90-5111-BAC5-A2EE-DEC90E3703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E036C7-9D5C-E886-FF0C-F7859E636B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8B94A0-1D21-1442-970F-8A71EF198ADF}" type="datetimeFigureOut">
              <a:rPr lang="en-US" smtClean="0"/>
              <a:t>2/22/26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E9938B-D40B-06B5-A598-4747556A39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DBEA28-1892-938F-D2A0-6D9A5CFD19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B8CEF0-5E4C-7C40-9F96-6A21B94434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48098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3CD3B3-5D85-A20E-4365-7ED649ABD3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7BD3A7-B1A6-58ED-E3A7-913D6347B07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609FBA1-94C5-197C-5AFE-B8A2ED5EA7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CCDB71-1EAF-85C5-E7D8-ECD946D16B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8B94A0-1D21-1442-970F-8A71EF198ADF}" type="datetimeFigureOut">
              <a:rPr lang="en-US" smtClean="0"/>
              <a:t>2/22/26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8EDAB7-C3B0-F12A-8503-753168BD8E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150758-8259-CDE3-26F5-31A62D7631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B8CEF0-5E4C-7C40-9F96-6A21B94434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45009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C6EE98-E426-7F74-1CEA-A9499FA3BD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FF8132-57BC-781E-B992-D6B2A4D227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724CC58-1386-D447-CDE5-29F0AFB344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140047A-0ABE-9F16-F0B5-E5035B818DE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CDB1F6E-8F18-E541-448D-9C77F92EB08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E1AD3A-DEF8-A6DF-A260-AC81961A86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8B94A0-1D21-1442-970F-8A71EF198ADF}" type="datetimeFigureOut">
              <a:rPr lang="en-US" smtClean="0"/>
              <a:t>2/22/26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71FE459-0A75-4A79-EC7A-11336DAB70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FC75C31-FE14-8AC7-66F1-0DA2F3D2C6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B8CEF0-5E4C-7C40-9F96-6A21B94434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15296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01114D-2D13-5223-D740-8D71A80E65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F23FD17-C74F-886E-DF6E-E7DAB2AF28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8B94A0-1D21-1442-970F-8A71EF198ADF}" type="datetimeFigureOut">
              <a:rPr lang="en-US" smtClean="0"/>
              <a:t>2/22/26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99EEB3A-3829-9755-05CB-2C7DA26CE5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7E03D2F-D070-8B15-B371-D17473C22B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B8CEF0-5E4C-7C40-9F96-6A21B94434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5509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23F9849-DB17-958B-72C3-1010407470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8B94A0-1D21-1442-970F-8A71EF198ADF}" type="datetimeFigureOut">
              <a:rPr lang="en-US" smtClean="0"/>
              <a:t>2/22/26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C35B84B-157A-ADC7-182C-5575E855DF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0E25F6-7EA7-ED9D-34E2-F57CEBCC7C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B8CEF0-5E4C-7C40-9F96-6A21B94434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06125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75BAD4-718E-1829-F486-6766E40B16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DA3C78-418F-0617-2F81-985E57D36C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A0040CD-9C8E-8B9B-5AA2-974FD43619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3CB54F-075A-243A-A779-75666C687C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8B94A0-1D21-1442-970F-8A71EF198ADF}" type="datetimeFigureOut">
              <a:rPr lang="en-US" smtClean="0"/>
              <a:t>2/22/26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3AA11E-6FBF-319A-F044-7D4529E9E1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F98200-468A-E3E5-3635-963BF094DA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B8CEF0-5E4C-7C40-9F96-6A21B94434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06294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82B542-F1C9-333C-C153-75902EED0A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C1BC8EC-B237-17F9-B2B3-7D1DDC16368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572F9C4-2FE3-2CB9-7078-DACB645201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E07E1E-708B-4E2B-E2B8-9FD70B6ED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8B94A0-1D21-1442-970F-8A71EF198ADF}" type="datetimeFigureOut">
              <a:rPr lang="en-US" smtClean="0"/>
              <a:t>2/22/26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DF0FD7-1AEB-B2DE-09D4-0C3EDABA6C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C18FC4-1ADA-41F9-6E34-C16B9E52E6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B8CEF0-5E4C-7C40-9F96-6A21B94434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56636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9273BA-D64C-8982-C4AA-63F018CFC9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E0C7AF4-15B2-0B8C-6754-B9B68CB706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4A5014-905A-E766-96D0-4A6B50B38A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8B94A0-1D21-1442-970F-8A71EF198ADF}" type="datetimeFigureOut">
              <a:rPr lang="en-US" smtClean="0"/>
              <a:t>2/22/26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FD16E3-8D13-76A3-1EFE-11FDAD079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04A746-C280-42C1-32F9-91F8CDA4F7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B8CEF0-5E4C-7C40-9F96-6A21B94434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58026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E44F2D9-B4AF-9BEA-B4E5-DD3C468A72E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CAE57E-67AE-38D0-0EBA-DE4D23F6DA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4DBED6-CA3F-40E7-B2A7-B9B5F617CA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8B94A0-1D21-1442-970F-8A71EF198ADF}" type="datetimeFigureOut">
              <a:rPr lang="en-US" smtClean="0"/>
              <a:t>2/22/26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0C36EF-8288-B79C-EC5A-28FD17AC08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3F52E8-10B1-33D9-F4F5-DDFABD3852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B8CEF0-5E4C-7C40-9F96-6A21B94434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73946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3033C64-A4F0-6166-6599-AC62F3338E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369E5D-A2FA-DB65-0C4B-CCD07385FA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13018F-941C-C652-EEF4-07650BB2562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48B94A0-1D21-1442-970F-8A71EF198ADF}" type="datetimeFigureOut">
              <a:rPr lang="en-US" smtClean="0"/>
              <a:t>2/22/26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E00C2E-88F7-9439-4C3D-47BCF5B25E4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82071E-8E2D-4373-4704-B20D310E8B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DB8CEF0-5E4C-7C40-9F96-6A21B94434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01000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568101F-E79B-21F5-5F1A-4210F7B9A2C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Meeting Updates 2/22</a:t>
            </a:r>
          </a:p>
        </p:txBody>
      </p:sp>
    </p:spTree>
    <p:extLst>
      <p:ext uri="{BB962C8B-B14F-4D97-AF65-F5344CB8AC3E}">
        <p14:creationId xmlns:p14="http://schemas.microsoft.com/office/powerpoint/2010/main" val="7867242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9BB971-4C05-15B9-BA2F-20DD6A3FF1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CFD74A-EF49-5D07-5197-1070E83334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6473" y="168244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/>
              <a:t>Multimodal Behavior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7BDF23E-0D28-A562-C05F-933A4D5BB7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562" y="1986725"/>
            <a:ext cx="4051300" cy="4064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4FB2643-C329-C3E9-6BA0-BE895422C5E4}"/>
              </a:ext>
            </a:extLst>
          </p:cNvPr>
          <p:cNvSpPr txBox="1"/>
          <p:nvPr/>
        </p:nvSpPr>
        <p:spPr>
          <a:xfrm>
            <a:off x="1428774" y="1503871"/>
            <a:ext cx="239687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Dataset Trajectories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F710A54-FADD-33DC-DFC5-F62BE6E347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678473"/>
            <a:ext cx="4254500" cy="27178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61916C6-079B-BD8B-0F62-D17C2369DE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4494003"/>
            <a:ext cx="4254500" cy="20193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B9227D6-A3D0-F1A1-7026-AC1CE6C5023D}"/>
              </a:ext>
            </a:extLst>
          </p:cNvPr>
          <p:cNvSpPr txBox="1"/>
          <p:nvPr/>
        </p:nvSpPr>
        <p:spPr>
          <a:xfrm>
            <a:off x="5833754" y="921718"/>
            <a:ext cx="537582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Rollouts of  Skills Sampled from Prior Conditioned on Nearby States</a:t>
            </a:r>
          </a:p>
        </p:txBody>
      </p:sp>
    </p:spTree>
    <p:extLst>
      <p:ext uri="{BB962C8B-B14F-4D97-AF65-F5344CB8AC3E}">
        <p14:creationId xmlns:p14="http://schemas.microsoft.com/office/powerpoint/2010/main" val="15002864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0199C6-1D37-BD2A-01D6-78102B152F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E00FAD-4810-4087-1272-4941AF892D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6473" y="168244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/>
              <a:t>KNN Loss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C82E5D1-77C7-8A7E-1AC3-D43526CDA446}"/>
                  </a:ext>
                </a:extLst>
              </p:cNvPr>
              <p:cNvSpPr txBox="1"/>
              <p:nvPr/>
            </p:nvSpPr>
            <p:spPr>
              <a:xfrm>
                <a:off x="216568" y="2141621"/>
                <a:ext cx="6208174" cy="110799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𝐿𝑒𝑡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𝑟𝑒𝑝𝑟𝑒𝑠𝑒𝑛𝑡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𝑐𝑢𝑟𝑟𝑒𝑛𝑡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𝑠𝑡𝑎𝑡𝑒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m:rPr>
                          <m:sty m:val="p"/>
                        </m:rPr>
                        <a:rPr lang="en-US" b="0" i="1" smtClean="0">
                          <a:latin typeface="Cambria Math" panose="02040503050406030204" pitchFamily="18" charset="0"/>
                        </a:rPr>
                        <m:t>s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’ </m:t>
                      </m:r>
                      <m:r>
                        <m:rPr>
                          <m:sty m:val="p"/>
                        </m:rPr>
                        <a:rPr lang="en-US" b="0" i="1" smtClean="0">
                          <a:latin typeface="Cambria Math" panose="02040503050406030204" pitchFamily="18" charset="0"/>
                        </a:rPr>
                        <m:t>represent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b="0" i="1" smtClean="0">
                          <a:latin typeface="Cambria Math" panose="02040503050406030204" pitchFamily="18" charset="0"/>
                        </a:rPr>
                        <m:t>neighboring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b="0" i="1" smtClean="0">
                          <a:latin typeface="Cambria Math" panose="02040503050406030204" pitchFamily="18" charset="0"/>
                        </a:rPr>
                        <m:t>state</m:t>
                      </m:r>
                    </m:oMath>
                  </m:oMathPara>
                </a14:m>
                <a:endParaRPr lang="en-US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1" smtClean="0">
                          <a:latin typeface="Cambria Math" panose="02040503050406030204" pitchFamily="18" charset="0"/>
                        </a:rPr>
                        <m:t>Let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: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Z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m</m:t>
                          </m:r>
                        </m:sub>
                      </m:sSub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represent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the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number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of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sampled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skills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/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neighbor</m:t>
                      </m:r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i="1">
                          <a:latin typeface="Cambria Math" panose="02040503050406030204" pitchFamily="18" charset="0"/>
                        </a:rPr>
                        <m:t>Let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: 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N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</a:rPr>
                        <m:t>represent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</a:rPr>
                        <m:t>the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</a:rPr>
                        <m:t>number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</a:rPr>
                        <m:t>of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</a:rPr>
                        <m:t>neighbor</m:t>
                      </m:r>
                    </m:oMath>
                  </m:oMathPara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98C7F36-E2F9-8450-B61A-1EDF8656BC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6568" y="2141621"/>
                <a:ext cx="6208174" cy="1107996"/>
              </a:xfrm>
              <a:prstGeom prst="rect">
                <a:avLst/>
              </a:prstGeom>
              <a:blipFill>
                <a:blip r:embed="rId2"/>
                <a:stretch>
                  <a:fillRect t="-11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846B829-8350-3E2A-5C5C-4F31EC440CB0}"/>
                  </a:ext>
                </a:extLst>
              </p:cNvPr>
              <p:cNvSpPr txBox="1"/>
              <p:nvPr/>
            </p:nvSpPr>
            <p:spPr>
              <a:xfrm>
                <a:off x="912790" y="3343433"/>
                <a:ext cx="10873222" cy="148899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𝐾𝐿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)||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’))≈</m:t>
                      </m:r>
                      <m:f>
                        <m:fPr>
                          <m:ctrlPr>
                            <a:rPr lang="en-US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US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Z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m</m:t>
                              </m:r>
                            </m:sub>
                          </m:sSub>
                        </m:den>
                      </m:f>
                      <m:nary>
                        <m:naryPr>
                          <m:chr m:val="∑"/>
                          <m:ctrlPr>
                            <a:rPr lang="en-US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en-US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brk m:alnAt="23"/>
                                </m:rPr>
                                <a:rPr lang="en-US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m:rPr>
                                  <m:brk m:alnAt="23"/>
                                </m:rPr>
                                <a:rPr lang="en-US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</m:sub>
                        <m:sup/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[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𝑙𝑜𝑔𝑝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z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m</m:t>
                              </m:r>
                            </m:sub>
                          </m:sSub>
                          <m:r>
                            <a:rPr lang="en-US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|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 – 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𝑙𝑜𝑔𝑞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z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m</m:t>
                              </m:r>
                            </m:sub>
                          </m:sSub>
                          <m:r>
                            <a:rPr lang="en-US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|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’)]</m:t>
                          </m:r>
                        </m:e>
                      </m:nary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4719F40-7436-FE97-B89A-79D04C0A94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2790" y="3343433"/>
                <a:ext cx="10873222" cy="1488997"/>
              </a:xfrm>
              <a:prstGeom prst="rect">
                <a:avLst/>
              </a:prstGeom>
              <a:blipFill>
                <a:blip r:embed="rId3"/>
                <a:stretch>
                  <a:fillRect t="-103390" b="-1593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B732E7B-54A5-62B8-8790-638AC3275FA4}"/>
                  </a:ext>
                </a:extLst>
              </p:cNvPr>
              <p:cNvSpPr txBox="1"/>
              <p:nvPr/>
            </p:nvSpPr>
            <p:spPr>
              <a:xfrm>
                <a:off x="912790" y="4832430"/>
                <a:ext cx="10873222" cy="142539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𝐾𝑁𝑁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 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𝐿𝑜𝑠𝑠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𝜆</m:t>
                      </m:r>
                      <m:f>
                        <m:fPr>
                          <m:ctrlPr>
                            <a:rPr lang="en-US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N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</m:rPr>
                            <a:rPr lang="en-US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n</m:t>
                          </m:r>
                        </m:sub>
                        <m:sup/>
                        <m:e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𝐾𝐿</m:t>
                          </m:r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𝑧</m:t>
                          </m:r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)||</m:t>
                          </m:r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𝑧</m:t>
                          </m:r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sz="320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sSub>
                            <m:sSubPr>
                              <m:ctrlP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200" i="1">
                                  <a:latin typeface="Cambria Math" panose="02040503050406030204" pitchFamily="18" charset="0"/>
                                </a:rPr>
                                <m:t>’</m:t>
                              </m:r>
                            </m:e>
                            <m:sub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))</m:t>
                          </m:r>
                        </m:e>
                      </m:nary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6AA914D-7894-8CE9-15C4-5EB6FAB424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2790" y="4832430"/>
                <a:ext cx="10873222" cy="1425390"/>
              </a:xfrm>
              <a:prstGeom prst="rect">
                <a:avLst/>
              </a:prstGeom>
              <a:blipFill>
                <a:blip r:embed="rId4"/>
                <a:stretch>
                  <a:fillRect t="-107965" b="-1707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132249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2D88BA-81AF-D894-28AC-77CD1192D9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B45318-DD75-B6E8-230E-2E14B6B1E8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6473" y="168244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/>
              <a:t>Multimodal Behavior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6A10EA9-F9C8-5B13-38B5-72A9D6063E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562" y="1986725"/>
            <a:ext cx="4051300" cy="4064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FAA0D3E-EF8D-253E-6706-80F29E384098}"/>
              </a:ext>
            </a:extLst>
          </p:cNvPr>
          <p:cNvSpPr txBox="1"/>
          <p:nvPr/>
        </p:nvSpPr>
        <p:spPr>
          <a:xfrm>
            <a:off x="1428774" y="1503871"/>
            <a:ext cx="239687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Dataset Trajectories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2CEAAF4-5AA1-6F01-9302-95D2E58868DF}"/>
              </a:ext>
            </a:extLst>
          </p:cNvPr>
          <p:cNvSpPr txBox="1"/>
          <p:nvPr/>
        </p:nvSpPr>
        <p:spPr>
          <a:xfrm>
            <a:off x="5833754" y="921718"/>
            <a:ext cx="537582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Rollouts of  Skills Sampled from Prior Conditioned on Nearby States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61F5512-B0DC-DA93-64E1-87A8C0B5BF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1548" y="1703926"/>
            <a:ext cx="3080239" cy="253774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B36AFEB-84E7-553C-D3B3-9DCE2F124C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58742" y="4354476"/>
            <a:ext cx="2725849" cy="2335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02426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006168-B10E-F43C-18B0-E8AD13FCC5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ED6371-1015-9738-201A-D87C090E4F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4107" y="1373478"/>
            <a:ext cx="10515600" cy="1325563"/>
          </a:xfrm>
        </p:spPr>
        <p:txBody>
          <a:bodyPr>
            <a:noAutofit/>
          </a:bodyPr>
          <a:lstStyle/>
          <a:p>
            <a:r>
              <a:rPr lang="en-US" sz="4800" dirty="0"/>
              <a:t>Is the KNN loss necessary?</a:t>
            </a:r>
            <a:br>
              <a:rPr lang="en-US" sz="4800" dirty="0"/>
            </a:br>
            <a:br>
              <a:rPr lang="en-US" sz="4800" dirty="0"/>
            </a:br>
            <a:br>
              <a:rPr lang="en-US" sz="4800" dirty="0"/>
            </a:br>
            <a:br>
              <a:rPr lang="en-US" sz="4800" dirty="0"/>
            </a:br>
            <a:endParaRPr lang="en-US" sz="48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C2A4F4E-A493-AB2F-CF97-1AFDC7FB1E71}"/>
              </a:ext>
            </a:extLst>
          </p:cNvPr>
          <p:cNvSpPr txBox="1"/>
          <p:nvPr/>
        </p:nvSpPr>
        <p:spPr>
          <a:xfrm>
            <a:off x="434107" y="1817914"/>
            <a:ext cx="11323786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indent="-742950">
              <a:buAutoNum type="arabicPeriod"/>
            </a:pPr>
            <a:r>
              <a:rPr lang="en-US" sz="4000" dirty="0"/>
              <a:t>Do we want to simply deem similarity as being close in x-y position? (velocity could play a role in why skill prior does not exhibit multimodal behavior)</a:t>
            </a:r>
          </a:p>
          <a:p>
            <a:pPr marL="742950" indent="-742950">
              <a:buAutoNum type="arabicPeriod"/>
            </a:pPr>
            <a:r>
              <a:rPr lang="en-US" sz="4000" dirty="0"/>
              <a:t>How well does the </a:t>
            </a:r>
            <a:r>
              <a:rPr lang="en-US" sz="4000" dirty="0" err="1"/>
              <a:t>MoG</a:t>
            </a:r>
            <a:r>
              <a:rPr lang="en-US" sz="4000" dirty="0"/>
              <a:t> skill prior perform in states where multimodal behavior is truly needed (approaching an intersection)?</a:t>
            </a:r>
          </a:p>
        </p:txBody>
      </p:sp>
    </p:spTree>
    <p:extLst>
      <p:ext uri="{BB962C8B-B14F-4D97-AF65-F5344CB8AC3E}">
        <p14:creationId xmlns:p14="http://schemas.microsoft.com/office/powerpoint/2010/main" val="37005299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964794-CC5A-882F-EF12-E0D518A94E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3DC181-AC65-71D5-6E40-F2DEF077CB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4107" y="1373478"/>
            <a:ext cx="10515600" cy="1325563"/>
          </a:xfrm>
        </p:spPr>
        <p:txBody>
          <a:bodyPr>
            <a:noAutofit/>
          </a:bodyPr>
          <a:lstStyle/>
          <a:p>
            <a:r>
              <a:rPr lang="en-US" sz="4800" dirty="0"/>
              <a:t>Test 1: The Role of Velocity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63CD548-9C12-276D-D9A0-F9E456B8DDC4}"/>
              </a:ext>
            </a:extLst>
          </p:cNvPr>
          <p:cNvSpPr txBox="1"/>
          <p:nvPr/>
        </p:nvSpPr>
        <p:spPr>
          <a:xfrm>
            <a:off x="434108" y="2782669"/>
            <a:ext cx="11470346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How does multimodal behavior change when we plot nearby </a:t>
            </a:r>
            <a:r>
              <a:rPr lang="en-US" sz="3600" dirty="0" err="1"/>
              <a:t>subtrajectories</a:t>
            </a:r>
            <a:r>
              <a:rPr lang="en-US" sz="3600" dirty="0"/>
              <a:t> that are close in </a:t>
            </a:r>
            <a:r>
              <a:rPr lang="en-US" sz="3600" b="1" dirty="0"/>
              <a:t>BOTH</a:t>
            </a:r>
            <a:r>
              <a:rPr lang="en-US" sz="3600" dirty="0"/>
              <a:t> x-y location and velocity?</a:t>
            </a:r>
          </a:p>
          <a:p>
            <a:pPr marL="1485900" lvl="2" indent="-571500">
              <a:buFont typeface="Arial" panose="020B0604020202020204" pitchFamily="34" charset="0"/>
              <a:buChar char="•"/>
            </a:pPr>
            <a:r>
              <a:rPr lang="en-US" sz="2800" dirty="0" err="1"/>
              <a:t>Subtrajectories</a:t>
            </a:r>
            <a:r>
              <a:rPr lang="en-US" sz="2800" dirty="0"/>
              <a:t> plotted given s0:</a:t>
            </a:r>
          </a:p>
          <a:p>
            <a:pPr marL="1485900" lvl="2" indent="-571500">
              <a:buFont typeface="Arial" panose="020B0604020202020204" pitchFamily="34" charset="0"/>
              <a:buChar char="•"/>
            </a:pPr>
            <a:r>
              <a:rPr lang="en-US" sz="2800" dirty="0"/>
              <a:t>Within radius of 0.2 from s0</a:t>
            </a:r>
          </a:p>
          <a:p>
            <a:pPr marL="1485900" lvl="2" indent="-571500">
              <a:buFont typeface="Arial" panose="020B0604020202020204" pitchFamily="34" charset="0"/>
              <a:buChar char="•"/>
            </a:pPr>
            <a:r>
              <a:rPr lang="en-US" sz="2800" dirty="0"/>
              <a:t>Cosine similarity between velocity vectors (</a:t>
            </a:r>
            <a:r>
              <a:rPr lang="en-US" sz="2800" dirty="0" err="1"/>
              <a:t>x_vel</a:t>
            </a:r>
            <a:r>
              <a:rPr lang="en-US" sz="2800" dirty="0"/>
              <a:t>, </a:t>
            </a:r>
            <a:r>
              <a:rPr lang="en-US" sz="2800" dirty="0" err="1"/>
              <a:t>y_vel</a:t>
            </a:r>
            <a:r>
              <a:rPr lang="en-US" sz="2800" dirty="0"/>
              <a:t>, </a:t>
            </a:r>
            <a:r>
              <a:rPr lang="en-US" sz="2800" dirty="0" err="1"/>
              <a:t>z_vel</a:t>
            </a:r>
            <a:r>
              <a:rPr lang="en-US" sz="2800" dirty="0"/>
              <a:t>) above 0.5</a:t>
            </a:r>
          </a:p>
        </p:txBody>
      </p:sp>
    </p:spTree>
    <p:extLst>
      <p:ext uri="{BB962C8B-B14F-4D97-AF65-F5344CB8AC3E}">
        <p14:creationId xmlns:p14="http://schemas.microsoft.com/office/powerpoint/2010/main" val="16558463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7D44A6-F9D3-53DA-6E87-7BC7B1ADCB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C5A58486-E962-0482-4531-951A65E00A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531004" y="115498"/>
            <a:ext cx="6627004" cy="662700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7531E22-922E-D236-64A4-AB5560CD0B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0"/>
            <a:ext cx="6627004" cy="662700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34F8685-1F86-BB61-6220-21A7BC6A9C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47146" y="3909204"/>
            <a:ext cx="4254500" cy="271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24565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8DF930-EE1D-8BE1-B082-801B3C3038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91F4FF5-0A6F-052C-752E-A302E50432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0"/>
            <a:ext cx="6627004" cy="662700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8DE11FB-C4E5-5B02-D495-CB8FE293CC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31004" y="0"/>
            <a:ext cx="6627004" cy="662700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4C2BCBA-ADDD-1053-6AE2-0103DE3D42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59522" y="4328304"/>
            <a:ext cx="4254500" cy="2298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54858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6EE896-54F0-EF78-CFE0-93CC3841EA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61C4075-09FA-BA07-A8E4-F557F14117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999" y="-1"/>
            <a:ext cx="6429555" cy="642955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93CF754-3B1E-EAE7-A1F4-C554D99679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33555" y="0"/>
            <a:ext cx="6429554" cy="642955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CCFF53D-7FBB-9A1D-4EF1-908A39928D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81644" y="2695754"/>
            <a:ext cx="2540000" cy="3733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72818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F685FC-D00E-A87C-F466-6E4407D34E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3A6BE1-6242-EC60-392E-762C46161C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4107" y="1373478"/>
            <a:ext cx="10515600" cy="1325563"/>
          </a:xfrm>
        </p:spPr>
        <p:txBody>
          <a:bodyPr>
            <a:noAutofit/>
          </a:bodyPr>
          <a:lstStyle/>
          <a:p>
            <a:r>
              <a:rPr lang="en-US" sz="4800" dirty="0"/>
              <a:t>Test 2: </a:t>
            </a:r>
            <a:r>
              <a:rPr lang="en-US" sz="4800" dirty="0" err="1"/>
              <a:t>MoG</a:t>
            </a:r>
            <a:r>
              <a:rPr lang="en-US" sz="4800" dirty="0"/>
              <a:t> Prior Skills Performance in True Multimodal Scenarios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57B2D5B-7B4B-A2D9-42BA-ACDF0E965175}"/>
              </a:ext>
            </a:extLst>
          </p:cNvPr>
          <p:cNvSpPr txBox="1"/>
          <p:nvPr/>
        </p:nvSpPr>
        <p:spPr>
          <a:xfrm>
            <a:off x="360827" y="3558795"/>
            <a:ext cx="1147034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Do the skills sampled from the prior exhibit multimodal behavior when approaching branching scenarios?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6904586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D27D0F-0AA4-4BC9-834A-636A9B7EC1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graph of a diagram&#10;&#10;AI-generated content may be incorrect.">
            <a:extLst>
              <a:ext uri="{FF2B5EF4-FFF2-40B4-BE49-F238E27FC236}">
                <a16:creationId xmlns:a16="http://schemas.microsoft.com/office/drawing/2014/main" id="{F75C417B-39A0-28A7-4A73-A2E50FAECA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010400" y="735996"/>
            <a:ext cx="6400800" cy="5943600"/>
          </a:xfrm>
          <a:prstGeom prst="rect">
            <a:avLst/>
          </a:prstGeom>
        </p:spPr>
      </p:pic>
      <p:pic>
        <p:nvPicPr>
          <p:cNvPr id="9" name="Picture 8" descr="A graph of a diagram&#10;&#10;AI-generated content may be incorrect.">
            <a:extLst>
              <a:ext uri="{FF2B5EF4-FFF2-40B4-BE49-F238E27FC236}">
                <a16:creationId xmlns:a16="http://schemas.microsoft.com/office/drawing/2014/main" id="{6963894A-9398-64AC-C51B-29223E7BE8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09600" y="794779"/>
            <a:ext cx="6400800" cy="5943600"/>
          </a:xfrm>
          <a:prstGeom prst="rect">
            <a:avLst/>
          </a:prstGeom>
        </p:spPr>
      </p:pic>
      <p:pic>
        <p:nvPicPr>
          <p:cNvPr id="11" name="Picture 10" descr="A graph of a diagram&#10;&#10;AI-generated content may be incorrect.">
            <a:extLst>
              <a:ext uri="{FF2B5EF4-FFF2-40B4-BE49-F238E27FC236}">
                <a16:creationId xmlns:a16="http://schemas.microsoft.com/office/drawing/2014/main" id="{059A845E-F678-C177-8C27-809F5DC16B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91200" y="735996"/>
            <a:ext cx="6400800" cy="5943600"/>
          </a:xfrm>
          <a:prstGeom prst="rect">
            <a:avLst/>
          </a:prstGeom>
        </p:spPr>
      </p:pic>
      <p:pic>
        <p:nvPicPr>
          <p:cNvPr id="13" name="Picture 12" descr="A graph of a diagram&#10;&#10;AI-generated content may be incorrect.">
            <a:extLst>
              <a:ext uri="{FF2B5EF4-FFF2-40B4-BE49-F238E27FC236}">
                <a16:creationId xmlns:a16="http://schemas.microsoft.com/office/drawing/2014/main" id="{90733024-0517-E570-C4F3-54C4455EEE9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192000" y="795263"/>
            <a:ext cx="6400800" cy="59436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78C125AB-6080-D0DA-A72F-F7B3E939FD96}"/>
              </a:ext>
            </a:extLst>
          </p:cNvPr>
          <p:cNvSpPr txBox="1"/>
          <p:nvPr/>
        </p:nvSpPr>
        <p:spPr>
          <a:xfrm>
            <a:off x="-278053" y="119137"/>
            <a:ext cx="1274810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True </a:t>
            </a:r>
            <a:r>
              <a:rPr lang="en-US" sz="2800" dirty="0" err="1"/>
              <a:t>Subtrajectories</a:t>
            </a:r>
            <a:r>
              <a:rPr lang="en-US" sz="2800" dirty="0"/>
              <a:t> Sampled from the Training Dataset that Approach a T-Section</a:t>
            </a:r>
          </a:p>
        </p:txBody>
      </p:sp>
    </p:spTree>
    <p:extLst>
      <p:ext uri="{BB962C8B-B14F-4D97-AF65-F5344CB8AC3E}">
        <p14:creationId xmlns:p14="http://schemas.microsoft.com/office/powerpoint/2010/main" val="1285833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893C14-C426-BCB1-1DAF-2861D921DC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graph of a diagram&#10;&#10;AI-generated content may be incorrect.">
            <a:extLst>
              <a:ext uri="{FF2B5EF4-FFF2-40B4-BE49-F238E27FC236}">
                <a16:creationId xmlns:a16="http://schemas.microsoft.com/office/drawing/2014/main" id="{9B75BB2B-F10E-0BC4-3499-951AB91C14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010400" y="735996"/>
            <a:ext cx="6400800" cy="5943600"/>
          </a:xfrm>
          <a:prstGeom prst="rect">
            <a:avLst/>
          </a:prstGeom>
        </p:spPr>
      </p:pic>
      <p:pic>
        <p:nvPicPr>
          <p:cNvPr id="9" name="Picture 8" descr="A graph of a diagram&#10;&#10;AI-generated content may be incorrect.">
            <a:extLst>
              <a:ext uri="{FF2B5EF4-FFF2-40B4-BE49-F238E27FC236}">
                <a16:creationId xmlns:a16="http://schemas.microsoft.com/office/drawing/2014/main" id="{B4897C7E-86BD-1175-6183-6A6786CBC0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09600" y="794779"/>
            <a:ext cx="6400800" cy="5943600"/>
          </a:xfrm>
          <a:prstGeom prst="rect">
            <a:avLst/>
          </a:prstGeom>
        </p:spPr>
      </p:pic>
      <p:pic>
        <p:nvPicPr>
          <p:cNvPr id="11" name="Picture 10" descr="A graph of a diagram&#10;&#10;AI-generated content may be incorrect.">
            <a:extLst>
              <a:ext uri="{FF2B5EF4-FFF2-40B4-BE49-F238E27FC236}">
                <a16:creationId xmlns:a16="http://schemas.microsoft.com/office/drawing/2014/main" id="{5EC2AD08-A92D-E7BE-8981-7C6F6A79C7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91200" y="735996"/>
            <a:ext cx="6400800" cy="5943600"/>
          </a:xfrm>
          <a:prstGeom prst="rect">
            <a:avLst/>
          </a:prstGeom>
        </p:spPr>
      </p:pic>
      <p:pic>
        <p:nvPicPr>
          <p:cNvPr id="13" name="Picture 12" descr="A graph of a diagram&#10;&#10;AI-generated content may be incorrect.">
            <a:extLst>
              <a:ext uri="{FF2B5EF4-FFF2-40B4-BE49-F238E27FC236}">
                <a16:creationId xmlns:a16="http://schemas.microsoft.com/office/drawing/2014/main" id="{747BBD72-7B28-BA46-3A9C-4897E120C08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192000" y="795263"/>
            <a:ext cx="6400800" cy="59436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814D492-095D-1C48-7396-E338515A59A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5886866" y="7460171"/>
            <a:ext cx="4136857" cy="549717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084B960-063D-5A1E-C826-9475623BA55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-8437" y="7460171"/>
            <a:ext cx="5373278" cy="533709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1839037-E160-02C8-B2DF-B28BF447878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51291" y="7460170"/>
            <a:ext cx="4366768" cy="519434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794A886-B365-86F1-6869-6553E2F20D5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192000" y="7340549"/>
            <a:ext cx="4838625" cy="542735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E83407A-DC05-8F16-DC75-1A87F37B77D0}"/>
              </a:ext>
            </a:extLst>
          </p:cNvPr>
          <p:cNvSpPr txBox="1"/>
          <p:nvPr/>
        </p:nvSpPr>
        <p:spPr>
          <a:xfrm>
            <a:off x="-278053" y="119137"/>
            <a:ext cx="1274810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True </a:t>
            </a:r>
            <a:r>
              <a:rPr lang="en-US" sz="2800" dirty="0" err="1"/>
              <a:t>Subtrajectories</a:t>
            </a:r>
            <a:r>
              <a:rPr lang="en-US" sz="2800" dirty="0"/>
              <a:t> Sampled from the Training Dataset that Approach a T-Section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480E5D3-C0C3-F469-D96D-3745A4F09759}"/>
              </a:ext>
            </a:extLst>
          </p:cNvPr>
          <p:cNvSpPr txBox="1"/>
          <p:nvPr/>
        </p:nvSpPr>
        <p:spPr>
          <a:xfrm>
            <a:off x="1075261" y="6886331"/>
            <a:ext cx="943187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Skills Sampled from Corresponding </a:t>
            </a:r>
            <a:r>
              <a:rPr lang="en-US" sz="2800" dirty="0" err="1"/>
              <a:t>Subtrajectory</a:t>
            </a:r>
            <a:r>
              <a:rPr lang="en-US" sz="2800" dirty="0"/>
              <a:t> Start State</a:t>
            </a:r>
          </a:p>
        </p:txBody>
      </p:sp>
    </p:spTree>
    <p:extLst>
      <p:ext uri="{BB962C8B-B14F-4D97-AF65-F5344CB8AC3E}">
        <p14:creationId xmlns:p14="http://schemas.microsoft.com/office/powerpoint/2010/main" val="35907884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432C3D-EACD-36CB-93BC-935B2C8E97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9B34D2-EEC2-E6AF-5D69-F0339FAAE7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4107" y="1373478"/>
            <a:ext cx="10515600" cy="1325563"/>
          </a:xfrm>
        </p:spPr>
        <p:txBody>
          <a:bodyPr>
            <a:noAutofit/>
          </a:bodyPr>
          <a:lstStyle/>
          <a:p>
            <a:r>
              <a:rPr lang="en-US" sz="4800" dirty="0"/>
              <a:t>Planner Experiments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22135C4-A389-C4BC-2C17-53689872CA7E}"/>
              </a:ext>
            </a:extLst>
          </p:cNvPr>
          <p:cNvSpPr txBox="1"/>
          <p:nvPr/>
        </p:nvSpPr>
        <p:spPr>
          <a:xfrm>
            <a:off x="360827" y="3558795"/>
            <a:ext cx="1147034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Calculated the success rate of reaching goal within 2000 policy timesteps over 500 plans</a:t>
            </a:r>
          </a:p>
          <a:p>
            <a:r>
              <a:rPr lang="en-US" sz="3600" dirty="0"/>
              <a:t>Success Rate ~ 10%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3515045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F476F4-95BB-EB01-FA52-785F2D7EA7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4746F2-DCC2-B782-1B66-3F7BC64D03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4107" y="1373478"/>
            <a:ext cx="10515600" cy="1325563"/>
          </a:xfrm>
        </p:spPr>
        <p:txBody>
          <a:bodyPr>
            <a:noAutofit/>
          </a:bodyPr>
          <a:lstStyle/>
          <a:p>
            <a:r>
              <a:rPr lang="en-US" sz="4800" dirty="0"/>
              <a:t>Changes Made (Model)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85EF7B5-7A5B-7023-E163-0C6D091B48AC}"/>
              </a:ext>
            </a:extLst>
          </p:cNvPr>
          <p:cNvSpPr txBox="1"/>
          <p:nvPr/>
        </p:nvSpPr>
        <p:spPr>
          <a:xfrm>
            <a:off x="360827" y="3558795"/>
            <a:ext cx="1147034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Training for more epochs</a:t>
            </a:r>
          </a:p>
          <a:p>
            <a:r>
              <a:rPr lang="en-US" sz="3600" dirty="0"/>
              <a:t>Playing around w/ the beta/gamma parameter</a:t>
            </a:r>
          </a:p>
          <a:p>
            <a:r>
              <a:rPr lang="en-US" sz="3600" dirty="0"/>
              <a:t>Reduced stride of dataset creation from 3 to 1</a:t>
            </a:r>
          </a:p>
        </p:txBody>
      </p:sp>
    </p:spTree>
    <p:extLst>
      <p:ext uri="{BB962C8B-B14F-4D97-AF65-F5344CB8AC3E}">
        <p14:creationId xmlns:p14="http://schemas.microsoft.com/office/powerpoint/2010/main" val="14355163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100E4B-E5C6-BB23-45EC-6F99C81CEA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1F0486-46EE-B9C0-E9B5-3351CE87AB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827" y="219592"/>
            <a:ext cx="10515600" cy="1325563"/>
          </a:xfrm>
        </p:spPr>
        <p:txBody>
          <a:bodyPr>
            <a:noAutofit/>
          </a:bodyPr>
          <a:lstStyle/>
          <a:p>
            <a:r>
              <a:rPr lang="en-US" sz="4800" dirty="0"/>
              <a:t>Changes Made (Planner)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BA71091-EC26-F6EE-729D-B582C9A2C741}"/>
              </a:ext>
            </a:extLst>
          </p:cNvPr>
          <p:cNvSpPr txBox="1"/>
          <p:nvPr/>
        </p:nvSpPr>
        <p:spPr>
          <a:xfrm>
            <a:off x="360827" y="1721457"/>
            <a:ext cx="11470346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Warm Start Epsilon Sequence (execute one skill </a:t>
            </a:r>
            <a:r>
              <a:rPr lang="en-US" sz="3600" dirty="0" err="1"/>
              <a:t>eps_mean</a:t>
            </a:r>
            <a:r>
              <a:rPr lang="en-US" sz="3600" dirty="0"/>
              <a:t>[0], then next CEM iteration gets </a:t>
            </a:r>
            <a:r>
              <a:rPr lang="en-US" sz="3600" dirty="0" err="1"/>
              <a:t>eps_mean</a:t>
            </a:r>
            <a:r>
              <a:rPr lang="en-US" sz="3600" dirty="0"/>
              <a:t>[1:] + zero vector for last eps</a:t>
            </a:r>
          </a:p>
          <a:p>
            <a:endParaRPr lang="en-US" sz="3600" dirty="0"/>
          </a:p>
          <a:p>
            <a:r>
              <a:rPr lang="en-US" sz="3600" dirty="0"/>
              <a:t>Added a cost </a:t>
            </a:r>
            <a:r>
              <a:rPr lang="en-US" sz="3600" dirty="0" err="1"/>
              <a:t>s.t.</a:t>
            </a:r>
            <a:r>
              <a:rPr lang="en-US" sz="3600" dirty="0"/>
              <a:t> skill sequences that get to goal earlier in plan are rewarded</a:t>
            </a:r>
          </a:p>
          <a:p>
            <a:endParaRPr lang="en-US" sz="3600" dirty="0"/>
          </a:p>
          <a:p>
            <a:r>
              <a:rPr lang="en-US" sz="3600" dirty="0"/>
              <a:t>Deterministic sampling from prior rather than random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58644277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5D20ED-CC06-09CA-796F-31128C7DCD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graph of a plan&#10;&#10;AI-generated content may be incorrect.">
            <a:extLst>
              <a:ext uri="{FF2B5EF4-FFF2-40B4-BE49-F238E27FC236}">
                <a16:creationId xmlns:a16="http://schemas.microsoft.com/office/drawing/2014/main" id="{846242A6-2D71-0A82-F97C-EFEBFA0BB8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289300" y="195774"/>
            <a:ext cx="6578600" cy="6032500"/>
          </a:xfrm>
          <a:prstGeom prst="rect">
            <a:avLst/>
          </a:prstGeom>
        </p:spPr>
      </p:pic>
      <p:pic>
        <p:nvPicPr>
          <p:cNvPr id="9" name="Picture 8" descr="A graph of a graph showing a path&#10;&#10;AI-generated content may be incorrect.">
            <a:extLst>
              <a:ext uri="{FF2B5EF4-FFF2-40B4-BE49-F238E27FC236}">
                <a16:creationId xmlns:a16="http://schemas.microsoft.com/office/drawing/2014/main" id="{4F71F16E-898C-23F7-531C-D0AE8C7CD2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51717" y="195774"/>
            <a:ext cx="6578600" cy="6032500"/>
          </a:xfrm>
          <a:prstGeom prst="rect">
            <a:avLst/>
          </a:prstGeom>
        </p:spPr>
      </p:pic>
      <p:pic>
        <p:nvPicPr>
          <p:cNvPr id="11" name="Picture 10" descr="A graph of a map&#10;&#10;AI-generated content may be incorrect.">
            <a:extLst>
              <a:ext uri="{FF2B5EF4-FFF2-40B4-BE49-F238E27FC236}">
                <a16:creationId xmlns:a16="http://schemas.microsoft.com/office/drawing/2014/main" id="{B960F730-3367-DDF2-CB74-DC033C7C2C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629" y="629726"/>
            <a:ext cx="6578600" cy="603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35249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11007</TotalTime>
  <Words>370</Words>
  <Application>Microsoft Macintosh PowerPoint</Application>
  <PresentationFormat>Widescreen</PresentationFormat>
  <Paragraphs>39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Aptos</vt:lpstr>
      <vt:lpstr>Aptos Display</vt:lpstr>
      <vt:lpstr>Arial</vt:lpstr>
      <vt:lpstr>Cambria Math</vt:lpstr>
      <vt:lpstr>Office Theme</vt:lpstr>
      <vt:lpstr>Meeting Updates 2/22</vt:lpstr>
      <vt:lpstr>Multimodal Behavior</vt:lpstr>
      <vt:lpstr>KNN Loss</vt:lpstr>
      <vt:lpstr>Multimodal Behavior</vt:lpstr>
      <vt:lpstr>Is the KNN loss necessary?    </vt:lpstr>
      <vt:lpstr>Test 1: The Role of Velocity</vt:lpstr>
      <vt:lpstr>PowerPoint Presentation</vt:lpstr>
      <vt:lpstr>PowerPoint Presentation</vt:lpstr>
      <vt:lpstr>PowerPoint Presentation</vt:lpstr>
      <vt:lpstr>Test 2: MoG Prior Skills Performance in True Multimodal Scenarios</vt:lpstr>
      <vt:lpstr>PowerPoint Presentation</vt:lpstr>
      <vt:lpstr>PowerPoint Presentation</vt:lpstr>
      <vt:lpstr>Planner Experiments</vt:lpstr>
      <vt:lpstr>Changes Made (Model)</vt:lpstr>
      <vt:lpstr>Changes Made (Planner)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Huang, William</dc:creator>
  <cp:lastModifiedBy>Huang, William</cp:lastModifiedBy>
  <cp:revision>40</cp:revision>
  <dcterms:created xsi:type="dcterms:W3CDTF">2026-01-07T19:23:21Z</dcterms:created>
  <dcterms:modified xsi:type="dcterms:W3CDTF">2026-02-22T19:48:32Z</dcterms:modified>
</cp:coreProperties>
</file>